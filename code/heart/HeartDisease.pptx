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2"/>
    <p:restoredTop sz="94672"/>
  </p:normalViewPr>
  <p:slideViewPr>
    <p:cSldViewPr snapToGrid="0" snapToObjects="1">
      <p:cViewPr varScale="1">
        <p:scale>
          <a:sx n="163" d="100"/>
          <a:sy n="163" d="100"/>
        </p:scale>
        <p:origin x="18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57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95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7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9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1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7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7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2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5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8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1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404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37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96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59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09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41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868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Heart Disease Presence</a:t>
            </a:r>
          </a:p>
          <a:p>
            <a:r>
              <a:t>Through Clinical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Joshua Ewer</a:t>
            </a:r>
          </a:p>
          <a:p>
            <a:r>
              <a:t>DSC680 – Applied Data Science</a:t>
            </a:r>
          </a:p>
          <a:p>
            <a:r>
              <a:t>January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419"/>
    </mc:Choice>
    <mc:Fallback>
      <p:transition spd="slow" advTm="204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Heart disease is a leading global cause of mortality</a:t>
            </a:r>
          </a:p>
          <a:p>
            <a:r>
              <a:t>Clinical indicators are difficult to interpret collectively</a:t>
            </a:r>
          </a:p>
          <a:p>
            <a:r>
              <a:t>Goal: predict heart disease presence using common 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303"/>
    </mc:Choice>
    <mc:Fallback>
      <p:transition spd="slow" advTm="373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and academic motivation</a:t>
            </a:r>
          </a:p>
          <a:p>
            <a:r>
              <a:t>Publicly available cardiovascular datasets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150"/>
    </mc:Choice>
    <mc:Fallback>
      <p:transition spd="slow" advTm="3215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UCI Heart Disease dataset (Kaggle)</a:t>
            </a:r>
          </a:p>
          <a:p>
            <a:r>
              <a:t>1,025 patient records</a:t>
            </a:r>
          </a:p>
          <a:p>
            <a:r>
              <a:t>14 clinical variables, binary target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33"/>
    </mc:Choice>
    <mc:Fallback>
      <p:transition spd="slow" advTm="245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missing values</a:t>
            </a:r>
          </a:p>
          <a:p>
            <a:r>
              <a:t>Mixed numeric and categorical data</a:t>
            </a:r>
          </a:p>
          <a:p>
            <a:r>
              <a:t>Balanced target variable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616"/>
    </mc:Choice>
    <mc:Fallback>
      <p:transition spd="slow" advTm="3061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3040201" cy="4041162"/>
          </a:xfrm>
        </p:spPr>
        <p:txBody>
          <a:bodyPr/>
          <a:lstStyle/>
          <a:p>
            <a:r>
              <a:rPr dirty="0"/>
              <a:t>Strong correlations with chest pain and imaging variables</a:t>
            </a:r>
          </a:p>
          <a:p>
            <a:r>
              <a:rPr dirty="0"/>
              <a:t>Patterns align with clinical expectations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8D76C-474B-6849-DC20-5A0791AA7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549" y="2157102"/>
            <a:ext cx="5068574" cy="3944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557"/>
    </mc:Choice>
    <mc:Fallback>
      <p:transition spd="slow" advTm="2955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baseline</a:t>
            </a:r>
          </a:p>
          <a:p>
            <a:r>
              <a:t>Gradient Boosting for non-linear patterns</a:t>
            </a:r>
          </a:p>
          <a:p>
            <a:r>
              <a:t>Emphasis on validation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839"/>
    </mc:Choice>
    <mc:Fallback>
      <p:transition spd="slow" advTm="3283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1312480"/>
          </a:xfrm>
        </p:spPr>
        <p:txBody>
          <a:bodyPr/>
          <a:lstStyle/>
          <a:p>
            <a:r>
              <a:rPr dirty="0"/>
              <a:t>Train/test split with stratification</a:t>
            </a:r>
          </a:p>
          <a:p>
            <a:r>
              <a:rPr dirty="0"/>
              <a:t>Cross-validation</a:t>
            </a:r>
          </a:p>
          <a:p>
            <a:r>
              <a:rPr dirty="0"/>
              <a:t>Accuracy, Recall, ROC-AUC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90227-229C-9FC8-629F-1986B700C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023" y="3429000"/>
            <a:ext cx="6424158" cy="3160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916"/>
    </mc:Choice>
    <mc:Fallback>
      <p:transition spd="slow" advTm="3591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2284360" cy="4041162"/>
          </a:xfrm>
        </p:spPr>
        <p:txBody>
          <a:bodyPr/>
          <a:lstStyle/>
          <a:p>
            <a:r>
              <a:rPr dirty="0"/>
              <a:t>ROC-AUC ≈ 0.82</a:t>
            </a:r>
          </a:p>
          <a:p>
            <a:r>
              <a:rPr dirty="0"/>
              <a:t>Strong and interpretable baseline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50027-ADAB-3045-3D40-99806770D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242" y="2369665"/>
            <a:ext cx="5070104" cy="34236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466"/>
    </mc:Choice>
    <mc:Fallback>
      <p:transition spd="slow" advTm="2646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Boosting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ROC-AUC ≈ 0.98</a:t>
            </a:r>
          </a:p>
          <a:p>
            <a:r>
              <a:t>Higher recall and accuracy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83C2C4-4F61-CEAC-F636-BE719A73A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67" y="1908498"/>
            <a:ext cx="4083359" cy="38973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16"/>
    </mc:Choice>
    <mc:Fallback>
      <p:transition spd="slow" advTm="1921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Regression: interpretable</a:t>
            </a:r>
          </a:p>
          <a:p>
            <a:r>
              <a:t>Gradient Boosting: higher performance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83"/>
    </mc:Choice>
    <mc:Fallback>
      <p:transition spd="slow" advTm="1478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demographic data</a:t>
            </a:r>
          </a:p>
          <a:p>
            <a:r>
              <a:t>Exploratory results</a:t>
            </a:r>
          </a:p>
          <a:p>
            <a:r>
              <a:t>Decision-support use only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333"/>
    </mc:Choice>
    <mc:Fallback>
      <p:transition spd="slow" advTm="3133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data can support prediction</a:t>
            </a:r>
          </a:p>
          <a:p>
            <a:r>
              <a:t>Ensemble methods outperform baselines</a:t>
            </a:r>
          </a:p>
          <a:p>
            <a:r>
              <a:t>Future validation needed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350"/>
    </mc:Choice>
    <mc:Fallback>
      <p:transition spd="slow" advTm="4235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3257-697A-9BDC-002B-5020AFEC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0DE20-04ED-E1D2-172F-1BD664AC1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effectLst/>
              </a:rPr>
              <a:t>1. Why did you choose Logistic Regression as your baseline?</a:t>
            </a:r>
          </a:p>
          <a:p>
            <a:r>
              <a:rPr lang="en-US" b="1" dirty="0">
                <a:effectLst/>
              </a:rPr>
              <a:t>2. The Gradient Boosting model performed much better. Why not just use that model?</a:t>
            </a:r>
          </a:p>
          <a:p>
            <a:r>
              <a:rPr lang="en-US" b="1" dirty="0">
                <a:effectLst/>
              </a:rPr>
              <a:t>3. A ROC-AUC of 0.98 seems very high. Are you concerned about overfitting?</a:t>
            </a:r>
          </a:p>
          <a:p>
            <a:r>
              <a:rPr lang="en-US" b="1" dirty="0">
                <a:effectLst/>
              </a:rPr>
              <a:t>4. Why did you emphasize recall over accuracy?</a:t>
            </a:r>
          </a:p>
          <a:p>
            <a:r>
              <a:rPr lang="en-US" b="1" dirty="0">
                <a:effectLst/>
              </a:rPr>
              <a:t>5. Some correlations, like maximum heart rate, seemed counterintuitive. How did you handle that?</a:t>
            </a:r>
          </a:p>
          <a:p>
            <a:r>
              <a:rPr lang="en-US" b="1" dirty="0">
                <a:effectLst/>
              </a:rPr>
              <a:t>6. Why didn’t you include demographic or lifestyle variables?</a:t>
            </a:r>
          </a:p>
          <a:p>
            <a:r>
              <a:rPr lang="en-US" b="1" dirty="0">
                <a:effectLst/>
              </a:rPr>
              <a:t>7. Could this model be used in a real clinical setting?</a:t>
            </a:r>
          </a:p>
          <a:p>
            <a:r>
              <a:rPr lang="en-US" b="1" dirty="0">
                <a:effectLst/>
              </a:rPr>
              <a:t>8. How did you decide which features to keep in the model?</a:t>
            </a:r>
          </a:p>
          <a:p>
            <a:r>
              <a:rPr lang="en-US" b="1" dirty="0">
                <a:effectLst/>
              </a:rPr>
              <a:t>9. Why didn’t you tune hyperparameters more aggressively?</a:t>
            </a:r>
          </a:p>
          <a:p>
            <a:r>
              <a:rPr lang="en-US" b="1" dirty="0">
                <a:effectLst/>
              </a:rPr>
              <a:t>10. What would you do differently if you were continuing this project?</a:t>
            </a:r>
          </a:p>
        </p:txBody>
      </p:sp>
    </p:spTree>
    <p:extLst>
      <p:ext uri="{BB962C8B-B14F-4D97-AF65-F5344CB8AC3E}">
        <p14:creationId xmlns:p14="http://schemas.microsoft.com/office/powerpoint/2010/main" val="2443528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016"/>
    </mc:Choice>
    <mc:Fallback>
      <p:transition spd="slow" advTm="374016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33</TotalTime>
  <Words>326</Words>
  <Application>Microsoft Macintosh PowerPoint</Application>
  <PresentationFormat>On-screen Show (4:3)</PresentationFormat>
  <Paragraphs>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Mesh</vt:lpstr>
      <vt:lpstr>Predicting Heart Disease Presence Through Clinical Results</vt:lpstr>
      <vt:lpstr>Business Problem</vt:lpstr>
      <vt:lpstr>Motivation &amp; Background</vt:lpstr>
      <vt:lpstr>Dataset Overview</vt:lpstr>
      <vt:lpstr>Data Preparation &amp; Exploration</vt:lpstr>
      <vt:lpstr>Exploratory Findings</vt:lpstr>
      <vt:lpstr>Modeling Approach</vt:lpstr>
      <vt:lpstr>Evaluation Strategy</vt:lpstr>
      <vt:lpstr>Logistic Regression Results</vt:lpstr>
      <vt:lpstr>Gradient Boosting Results</vt:lpstr>
      <vt:lpstr>Model Comparison</vt:lpstr>
      <vt:lpstr>Limitations &amp; Ethics</vt:lpstr>
      <vt:lpstr>Conclusion &amp; Future Work</vt:lpstr>
      <vt:lpstr>QUESTIONS AND ANSWERS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Joshua.Ewer</cp:lastModifiedBy>
  <cp:revision>3</cp:revision>
  <dcterms:created xsi:type="dcterms:W3CDTF">2013-01-27T09:14:16Z</dcterms:created>
  <dcterms:modified xsi:type="dcterms:W3CDTF">2026-01-08T22:24:27Z</dcterms:modified>
  <cp:category/>
</cp:coreProperties>
</file>