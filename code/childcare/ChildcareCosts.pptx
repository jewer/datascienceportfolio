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5811c3a1c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5811c3a1c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da5fb103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da5fb103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6da5fb103a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6da5fb103a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6da5fb103a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6da5fb103a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da5fb103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da5fb103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6da5fb103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6da5fb103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6da5fb103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6da5fb103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6da5fb103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6da5fb103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hyperlink" Target="https://dcyf.mn.gov/programs-directory/child-care-assistance-progra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3537150" y="1578400"/>
            <a:ext cx="5017500" cy="65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00"/>
              <a:t>Investing in Our Future:</a:t>
            </a:r>
            <a:endParaRPr sz="3200"/>
          </a:p>
        </p:txBody>
      </p:sp>
      <p:sp>
        <p:nvSpPr>
          <p:cNvPr id="87" name="Google Shape;87;p13"/>
          <p:cNvSpPr txBox="1"/>
          <p:nvPr>
            <p:ph idx="1" type="subTitle"/>
          </p:nvPr>
        </p:nvSpPr>
        <p:spPr>
          <a:xfrm>
            <a:off x="5083950" y="3924925"/>
            <a:ext cx="3470700" cy="7767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
              <a:t>Presented by: Joshua Ewer, Policy Advocate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Senator Schneider, State of California</a:t>
            </a:r>
            <a:endParaRPr/>
          </a:p>
        </p:txBody>
      </p:sp>
      <p:sp>
        <p:nvSpPr>
          <p:cNvPr id="88" name="Google Shape;88;p13"/>
          <p:cNvSpPr txBox="1"/>
          <p:nvPr>
            <p:ph type="ctrTitle"/>
          </p:nvPr>
        </p:nvSpPr>
        <p:spPr>
          <a:xfrm>
            <a:off x="3627300" y="2174325"/>
            <a:ext cx="5017500" cy="16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t>Proposal to Reduce Burden and Increase Quality of Life</a:t>
            </a:r>
            <a:endParaRPr sz="2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Childcare Costs Matter</a:t>
            </a:r>
            <a:endParaRPr/>
          </a:p>
        </p:txBody>
      </p:sp>
      <p:sp>
        <p:nvSpPr>
          <p:cNvPr id="94" name="Google Shape;94;p14"/>
          <p:cNvSpPr txBox="1"/>
          <p:nvPr>
            <p:ph idx="1" type="body"/>
          </p:nvPr>
        </p:nvSpPr>
        <p:spPr>
          <a:xfrm>
            <a:off x="729450" y="2071075"/>
            <a:ext cx="3601800" cy="2261100"/>
          </a:xfrm>
          <a:prstGeom prst="rect">
            <a:avLst/>
          </a:prstGeom>
        </p:spPr>
        <p:txBody>
          <a:bodyPr anchorCtr="0" anchor="t" bIns="91425" lIns="91425" spcFirstLastPara="1" rIns="91425" wrap="square" tIns="91425">
            <a:noAutofit/>
          </a:bodyPr>
          <a:lstStyle/>
          <a:p>
            <a:pPr indent="-336708" lvl="0" marL="457200" rtl="0" algn="l">
              <a:lnSpc>
                <a:spcPct val="115000"/>
              </a:lnSpc>
              <a:spcBef>
                <a:spcPts val="0"/>
              </a:spcBef>
              <a:spcAft>
                <a:spcPts val="0"/>
              </a:spcAft>
              <a:buSzPts val="1703"/>
              <a:buChar char="●"/>
            </a:pPr>
            <a:r>
              <a:rPr lang="en" sz="1702"/>
              <a:t>California has some of the  highest childcare cost burden in the country</a:t>
            </a:r>
            <a:endParaRPr sz="1702"/>
          </a:p>
          <a:p>
            <a:pPr indent="-336708" lvl="0" marL="457200" rtl="0" algn="l">
              <a:lnSpc>
                <a:spcPct val="115000"/>
              </a:lnSpc>
              <a:spcBef>
                <a:spcPts val="0"/>
              </a:spcBef>
              <a:spcAft>
                <a:spcPts val="0"/>
              </a:spcAft>
              <a:buSzPts val="1703"/>
              <a:buChar char="●"/>
            </a:pPr>
            <a:r>
              <a:rPr lang="en" sz="1702"/>
              <a:t>Average weekly cost of infant care:  </a:t>
            </a:r>
            <a:r>
              <a:rPr b="1" lang="en" sz="1702"/>
              <a:t>$173</a:t>
            </a:r>
            <a:endParaRPr b="1" sz="1702"/>
          </a:p>
          <a:p>
            <a:pPr indent="-336708" lvl="0" marL="457200" rtl="0" algn="l">
              <a:lnSpc>
                <a:spcPct val="115000"/>
              </a:lnSpc>
              <a:spcBef>
                <a:spcPts val="0"/>
              </a:spcBef>
              <a:spcAft>
                <a:spcPts val="0"/>
              </a:spcAft>
              <a:buSzPts val="1703"/>
              <a:buChar char="●"/>
            </a:pPr>
            <a:r>
              <a:rPr lang="en" sz="1702"/>
              <a:t>Yearly cost: </a:t>
            </a:r>
            <a:r>
              <a:rPr b="1" lang="en" sz="1702"/>
              <a:t>~$9000</a:t>
            </a:r>
            <a:r>
              <a:rPr lang="en" sz="1702"/>
              <a:t>, comparable to in-state college tuition</a:t>
            </a:r>
            <a:endParaRPr/>
          </a:p>
        </p:txBody>
      </p:sp>
      <p:pic>
        <p:nvPicPr>
          <p:cNvPr id="95" name="Google Shape;95;p14"/>
          <p:cNvPicPr preferRelativeResize="0"/>
          <p:nvPr/>
        </p:nvPicPr>
        <p:blipFill>
          <a:blip r:embed="rId3">
            <a:alphaModFix/>
          </a:blip>
          <a:stretch>
            <a:fillRect/>
          </a:stretch>
        </p:blipFill>
        <p:spPr>
          <a:xfrm>
            <a:off x="4385825" y="1908975"/>
            <a:ext cx="4672501" cy="2501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Tale of Two States</a:t>
            </a:r>
            <a:endParaRPr/>
          </a:p>
        </p:txBody>
      </p:sp>
      <p:sp>
        <p:nvSpPr>
          <p:cNvPr id="101" name="Google Shape;101;p15"/>
          <p:cNvSpPr txBox="1"/>
          <p:nvPr>
            <p:ph idx="1" type="body"/>
          </p:nvPr>
        </p:nvSpPr>
        <p:spPr>
          <a:xfrm>
            <a:off x="729450" y="2078875"/>
            <a:ext cx="3936900" cy="2261100"/>
          </a:xfrm>
          <a:prstGeom prst="rect">
            <a:avLst/>
          </a:prstGeom>
        </p:spPr>
        <p:txBody>
          <a:bodyPr anchorCtr="0" anchor="t" bIns="91425" lIns="91425" spcFirstLastPara="1" rIns="91425" wrap="square" tIns="91425">
            <a:noAutofit/>
          </a:bodyPr>
          <a:lstStyle/>
          <a:p>
            <a:pPr indent="-336708" lvl="0" marL="457200" rtl="0" algn="l">
              <a:lnSpc>
                <a:spcPct val="115000"/>
              </a:lnSpc>
              <a:spcBef>
                <a:spcPts val="0"/>
              </a:spcBef>
              <a:spcAft>
                <a:spcPts val="0"/>
              </a:spcAft>
              <a:buSzPts val="1703"/>
              <a:buChar char="●"/>
            </a:pPr>
            <a:r>
              <a:rPr lang="en" sz="1702"/>
              <a:t>California: ~</a:t>
            </a:r>
            <a:r>
              <a:rPr b="1" lang="en" sz="1702"/>
              <a:t>15% of income</a:t>
            </a:r>
            <a:r>
              <a:rPr lang="en" sz="1702"/>
              <a:t> goes to childcare</a:t>
            </a:r>
            <a:endParaRPr sz="1702"/>
          </a:p>
          <a:p>
            <a:pPr indent="-336708" lvl="0" marL="457200" rtl="0" algn="l">
              <a:lnSpc>
                <a:spcPct val="115000"/>
              </a:lnSpc>
              <a:spcBef>
                <a:spcPts val="0"/>
              </a:spcBef>
              <a:spcAft>
                <a:spcPts val="0"/>
              </a:spcAft>
              <a:buSzPts val="1703"/>
              <a:buChar char="●"/>
            </a:pPr>
            <a:r>
              <a:rPr lang="en" sz="1702"/>
              <a:t>Minnesota: </a:t>
            </a:r>
            <a:r>
              <a:rPr b="1" lang="en" sz="1702"/>
              <a:t>&lt; 10% </a:t>
            </a:r>
            <a:r>
              <a:rPr lang="en" sz="1702"/>
              <a:t>of income</a:t>
            </a:r>
            <a:endParaRPr sz="1702"/>
          </a:p>
          <a:p>
            <a:pPr indent="-336708" lvl="0" marL="457200" rtl="0" algn="l">
              <a:lnSpc>
                <a:spcPct val="115000"/>
              </a:lnSpc>
              <a:spcBef>
                <a:spcPts val="0"/>
              </a:spcBef>
              <a:spcAft>
                <a:spcPts val="0"/>
              </a:spcAft>
              <a:buSzPts val="1703"/>
              <a:buChar char="●"/>
            </a:pPr>
            <a:r>
              <a:rPr lang="en" sz="1702"/>
              <a:t>Costs in both states are rising, but much more dramatically in California</a:t>
            </a:r>
            <a:endParaRPr sz="1702"/>
          </a:p>
        </p:txBody>
      </p:sp>
      <p:pic>
        <p:nvPicPr>
          <p:cNvPr id="102" name="Google Shape;102;p15"/>
          <p:cNvPicPr preferRelativeResize="0"/>
          <p:nvPr/>
        </p:nvPicPr>
        <p:blipFill>
          <a:blip r:embed="rId3">
            <a:alphaModFix/>
          </a:blip>
          <a:stretch>
            <a:fillRect/>
          </a:stretch>
        </p:blipFill>
        <p:spPr>
          <a:xfrm>
            <a:off x="4818750" y="2006250"/>
            <a:ext cx="4172849" cy="2077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National Comparison</a:t>
            </a:r>
            <a:endParaRPr/>
          </a:p>
        </p:txBody>
      </p:sp>
      <p:sp>
        <p:nvSpPr>
          <p:cNvPr id="108" name="Google Shape;108;p16"/>
          <p:cNvSpPr txBox="1"/>
          <p:nvPr>
            <p:ph idx="1" type="body"/>
          </p:nvPr>
        </p:nvSpPr>
        <p:spPr>
          <a:xfrm>
            <a:off x="729450" y="2078875"/>
            <a:ext cx="3936900" cy="2261100"/>
          </a:xfrm>
          <a:prstGeom prst="rect">
            <a:avLst/>
          </a:prstGeom>
        </p:spPr>
        <p:txBody>
          <a:bodyPr anchorCtr="0" anchor="t" bIns="91425" lIns="91425" spcFirstLastPara="1" rIns="91425" wrap="square" tIns="91425">
            <a:noAutofit/>
          </a:bodyPr>
          <a:lstStyle/>
          <a:p>
            <a:pPr indent="-336708" lvl="0" marL="457200" rtl="0" algn="l">
              <a:lnSpc>
                <a:spcPct val="115000"/>
              </a:lnSpc>
              <a:spcBef>
                <a:spcPts val="0"/>
              </a:spcBef>
              <a:spcAft>
                <a:spcPts val="0"/>
              </a:spcAft>
              <a:buSzPts val="1703"/>
              <a:buChar char="●"/>
            </a:pPr>
            <a:r>
              <a:rPr lang="en" sz="1702"/>
              <a:t>Many </a:t>
            </a:r>
            <a:r>
              <a:rPr lang="en" sz="1702"/>
              <a:t>states have </a:t>
            </a:r>
            <a:r>
              <a:rPr b="1" lang="en" sz="1702"/>
              <a:t>2x less</a:t>
            </a:r>
            <a:r>
              <a:rPr lang="en" sz="1702"/>
              <a:t> of a burden on their taxpayers</a:t>
            </a:r>
            <a:endParaRPr sz="1702"/>
          </a:p>
          <a:p>
            <a:pPr indent="-311308" lvl="1" marL="914400" rtl="0" algn="l">
              <a:lnSpc>
                <a:spcPct val="115000"/>
              </a:lnSpc>
              <a:spcBef>
                <a:spcPts val="0"/>
              </a:spcBef>
              <a:spcAft>
                <a:spcPts val="0"/>
              </a:spcAft>
              <a:buSzPts val="1303"/>
              <a:buChar char="○"/>
            </a:pPr>
            <a:r>
              <a:rPr lang="en" sz="1302"/>
              <a:t>Direct comparisons to all may be unfair, but may of these states have nationally recognized quality of life standards (e.g. Minnesota) while maintaining relatively low cost for childcare due to existing public subsidies*</a:t>
            </a:r>
            <a:endParaRPr sz="1302"/>
          </a:p>
        </p:txBody>
      </p:sp>
      <p:pic>
        <p:nvPicPr>
          <p:cNvPr id="109" name="Google Shape;109;p16"/>
          <p:cNvPicPr preferRelativeResize="0"/>
          <p:nvPr/>
        </p:nvPicPr>
        <p:blipFill>
          <a:blip r:embed="rId3">
            <a:alphaModFix/>
          </a:blip>
          <a:stretch>
            <a:fillRect/>
          </a:stretch>
        </p:blipFill>
        <p:spPr>
          <a:xfrm>
            <a:off x="4818750" y="2006250"/>
            <a:ext cx="4172849" cy="2313957"/>
          </a:xfrm>
          <a:prstGeom prst="rect">
            <a:avLst/>
          </a:prstGeom>
          <a:noFill/>
          <a:ln>
            <a:noFill/>
          </a:ln>
        </p:spPr>
      </p:pic>
      <p:sp>
        <p:nvSpPr>
          <p:cNvPr id="110" name="Google Shape;110;p16"/>
          <p:cNvSpPr txBox="1"/>
          <p:nvPr/>
        </p:nvSpPr>
        <p:spPr>
          <a:xfrm>
            <a:off x="338300" y="4565000"/>
            <a:ext cx="8715600" cy="3195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100"/>
              <a:t> * </a:t>
            </a:r>
            <a:r>
              <a:rPr lang="en" sz="800" u="sng">
                <a:solidFill>
                  <a:schemeClr val="hlink"/>
                </a:solidFill>
                <a:hlinkClick r:id="rId4"/>
              </a:rPr>
              <a:t>Child Care Assistance Program | Minnesota Department of Children, Youth, and Families</a:t>
            </a:r>
            <a:endParaRPr sz="1000">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National Comparison</a:t>
            </a:r>
            <a:endParaRPr/>
          </a:p>
        </p:txBody>
      </p:sp>
      <p:sp>
        <p:nvSpPr>
          <p:cNvPr id="116" name="Google Shape;116;p17"/>
          <p:cNvSpPr txBox="1"/>
          <p:nvPr>
            <p:ph idx="1" type="body"/>
          </p:nvPr>
        </p:nvSpPr>
        <p:spPr>
          <a:xfrm>
            <a:off x="729450" y="2078875"/>
            <a:ext cx="3936900" cy="2261100"/>
          </a:xfrm>
          <a:prstGeom prst="rect">
            <a:avLst/>
          </a:prstGeom>
        </p:spPr>
        <p:txBody>
          <a:bodyPr anchorCtr="0" anchor="t" bIns="91425" lIns="91425" spcFirstLastPara="1" rIns="91425" wrap="square" tIns="91425">
            <a:noAutofit/>
          </a:bodyPr>
          <a:lstStyle/>
          <a:p>
            <a:pPr indent="-336708" lvl="0" marL="457200" rtl="0" algn="l">
              <a:lnSpc>
                <a:spcPct val="115000"/>
              </a:lnSpc>
              <a:spcBef>
                <a:spcPts val="0"/>
              </a:spcBef>
              <a:spcAft>
                <a:spcPts val="0"/>
              </a:spcAft>
              <a:buSzPts val="1703"/>
              <a:buChar char="●"/>
            </a:pPr>
            <a:r>
              <a:rPr lang="en" sz="1702"/>
              <a:t>Even when taking into regional income differences, California continues to have a high burden of care when compared other states.</a:t>
            </a:r>
            <a:endParaRPr sz="1302"/>
          </a:p>
        </p:txBody>
      </p:sp>
      <p:pic>
        <p:nvPicPr>
          <p:cNvPr id="117" name="Google Shape;117;p17"/>
          <p:cNvPicPr preferRelativeResize="0"/>
          <p:nvPr/>
        </p:nvPicPr>
        <p:blipFill>
          <a:blip r:embed="rId3">
            <a:alphaModFix/>
          </a:blip>
          <a:stretch>
            <a:fillRect/>
          </a:stretch>
        </p:blipFill>
        <p:spPr>
          <a:xfrm>
            <a:off x="5099150" y="1577875"/>
            <a:ext cx="3816805" cy="2406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Investment</a:t>
            </a:r>
            <a:endParaRPr/>
          </a:p>
        </p:txBody>
      </p:sp>
      <p:sp>
        <p:nvSpPr>
          <p:cNvPr id="123" name="Google Shape;123;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SzPts val="1500"/>
              <a:buChar char="●"/>
            </a:pPr>
            <a:r>
              <a:rPr lang="en" sz="1500"/>
              <a:t>Establish a </a:t>
            </a:r>
            <a:r>
              <a:rPr b="1" lang="en" sz="1500"/>
              <a:t>public childcare investment fund</a:t>
            </a:r>
            <a:endParaRPr b="1" sz="1500"/>
          </a:p>
          <a:p>
            <a:pPr indent="-323850" lvl="0" marL="457200" rtl="0" algn="l">
              <a:lnSpc>
                <a:spcPct val="150000"/>
              </a:lnSpc>
              <a:spcBef>
                <a:spcPts val="0"/>
              </a:spcBef>
              <a:spcAft>
                <a:spcPts val="0"/>
              </a:spcAft>
              <a:buSzPts val="1500"/>
              <a:buChar char="●"/>
            </a:pPr>
            <a:r>
              <a:rPr lang="en" sz="1500"/>
              <a:t>Trial </a:t>
            </a:r>
            <a:r>
              <a:rPr b="1" lang="en" sz="1500"/>
              <a:t>subsidies </a:t>
            </a:r>
            <a:r>
              <a:rPr lang="en" sz="1500"/>
              <a:t>for families earning under a specific threshold </a:t>
            </a:r>
            <a:endParaRPr sz="1500"/>
          </a:p>
          <a:p>
            <a:pPr indent="-323850" lvl="0" marL="457200" rtl="0" algn="l">
              <a:lnSpc>
                <a:spcPct val="150000"/>
              </a:lnSpc>
              <a:spcBef>
                <a:spcPts val="0"/>
              </a:spcBef>
              <a:spcAft>
                <a:spcPts val="0"/>
              </a:spcAft>
              <a:buSzPts val="1500"/>
              <a:buChar char="●"/>
            </a:pPr>
            <a:r>
              <a:rPr lang="en" sz="1500"/>
              <a:t>Invest in </a:t>
            </a:r>
            <a:r>
              <a:rPr b="1" lang="en" sz="1500"/>
              <a:t>training and retention for childcare workers</a:t>
            </a:r>
            <a:endParaRPr b="1" sz="1500"/>
          </a:p>
          <a:p>
            <a:pPr indent="-323850" lvl="0" marL="457200" rtl="0" algn="l">
              <a:lnSpc>
                <a:spcPct val="150000"/>
              </a:lnSpc>
              <a:spcBef>
                <a:spcPts val="0"/>
              </a:spcBef>
              <a:spcAft>
                <a:spcPts val="0"/>
              </a:spcAft>
              <a:buSzPts val="1500"/>
              <a:buChar char="●"/>
            </a:pPr>
            <a:r>
              <a:rPr lang="en" sz="1500"/>
              <a:t>Create </a:t>
            </a:r>
            <a:r>
              <a:rPr b="1" lang="en" sz="1500"/>
              <a:t>regional childcare cost monitoring</a:t>
            </a:r>
            <a:r>
              <a:rPr lang="en" sz="1500"/>
              <a:t> in public health services departments,</a:t>
            </a:r>
            <a:endParaRPr sz="1500"/>
          </a:p>
          <a:p>
            <a:pPr indent="-311150" lvl="1" marL="914400" rtl="0" algn="l">
              <a:lnSpc>
                <a:spcPct val="150000"/>
              </a:lnSpc>
              <a:spcBef>
                <a:spcPts val="0"/>
              </a:spcBef>
              <a:spcAft>
                <a:spcPts val="0"/>
              </a:spcAft>
              <a:buSzPts val="1300"/>
              <a:buChar char="○"/>
            </a:pPr>
            <a:r>
              <a:rPr lang="en" sz="1300"/>
              <a:t>can be used to transparently manage costs, and</a:t>
            </a:r>
            <a:endParaRPr sz="1300"/>
          </a:p>
          <a:p>
            <a:pPr indent="-311150" lvl="1" marL="914400" rtl="0" algn="l">
              <a:lnSpc>
                <a:spcPct val="150000"/>
              </a:lnSpc>
              <a:spcBef>
                <a:spcPts val="0"/>
              </a:spcBef>
              <a:spcAft>
                <a:spcPts val="0"/>
              </a:spcAft>
              <a:buSzPts val="1300"/>
              <a:buChar char="○"/>
            </a:pPr>
            <a:r>
              <a:rPr lang="en" sz="1300"/>
              <a:t>support advertisement to relocating families</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Success Defined</a:t>
            </a:r>
            <a:endParaRPr/>
          </a:p>
        </p:txBody>
      </p:sp>
      <p:sp>
        <p:nvSpPr>
          <p:cNvPr id="129" name="Google Shape;129;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36550" lvl="0" marL="457200" rtl="0" algn="l">
              <a:lnSpc>
                <a:spcPct val="150000"/>
              </a:lnSpc>
              <a:spcBef>
                <a:spcPts val="0"/>
              </a:spcBef>
              <a:spcAft>
                <a:spcPts val="0"/>
              </a:spcAft>
              <a:buSzPts val="1700"/>
              <a:buChar char="●"/>
            </a:pPr>
            <a:r>
              <a:rPr lang="en" sz="1700"/>
              <a:t>Families spend less on childcare, more in line with the states like Minnesota</a:t>
            </a:r>
            <a:endParaRPr sz="1700"/>
          </a:p>
          <a:p>
            <a:pPr indent="-336550" lvl="0" marL="457200" rtl="0" algn="l">
              <a:lnSpc>
                <a:spcPct val="150000"/>
              </a:lnSpc>
              <a:spcBef>
                <a:spcPts val="0"/>
              </a:spcBef>
              <a:spcAft>
                <a:spcPts val="0"/>
              </a:spcAft>
              <a:buSzPts val="1700"/>
              <a:buChar char="●"/>
            </a:pPr>
            <a:r>
              <a:rPr lang="en" sz="1700"/>
              <a:t>Increased employment for parents, especially working mothers</a:t>
            </a:r>
            <a:endParaRPr sz="1700"/>
          </a:p>
          <a:p>
            <a:pPr indent="-336550" lvl="0" marL="457200" rtl="0" algn="l">
              <a:lnSpc>
                <a:spcPct val="150000"/>
              </a:lnSpc>
              <a:spcBef>
                <a:spcPts val="0"/>
              </a:spcBef>
              <a:spcAft>
                <a:spcPts val="0"/>
              </a:spcAft>
              <a:buSzPts val="1700"/>
              <a:buChar char="●"/>
            </a:pPr>
            <a:r>
              <a:rPr lang="en" sz="1700"/>
              <a:t>Growth market for licensed, quality care centers</a:t>
            </a:r>
            <a:endParaRPr sz="1700"/>
          </a:p>
          <a:p>
            <a:pPr indent="-336550" lvl="0" marL="457200" rtl="0" algn="l">
              <a:lnSpc>
                <a:spcPct val="150000"/>
              </a:lnSpc>
              <a:spcBef>
                <a:spcPts val="0"/>
              </a:spcBef>
              <a:spcAft>
                <a:spcPts val="0"/>
              </a:spcAft>
              <a:buSzPts val="1700"/>
              <a:buChar char="●"/>
            </a:pPr>
            <a:r>
              <a:rPr lang="en" sz="1700"/>
              <a:t>Higher workforce retention and productivity</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Commitment</a:t>
            </a:r>
            <a:r>
              <a:rPr lang="en"/>
              <a:t> to Thriving Families</a:t>
            </a:r>
            <a:endParaRPr/>
          </a:p>
        </p:txBody>
      </p:sp>
      <p:sp>
        <p:nvSpPr>
          <p:cNvPr id="135" name="Google Shape;135;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Childcare is not a luxury; it’s public infrastructure that demands investment</a:t>
            </a:r>
            <a:endParaRPr/>
          </a:p>
          <a:p>
            <a:pPr indent="-311150" lvl="0" marL="457200" rtl="0" algn="l">
              <a:spcBef>
                <a:spcPts val="0"/>
              </a:spcBef>
              <a:spcAft>
                <a:spcPts val="0"/>
              </a:spcAft>
              <a:buSzPts val="1300"/>
              <a:buChar char="●"/>
            </a:pPr>
            <a:r>
              <a:rPr lang="en"/>
              <a:t>In </a:t>
            </a:r>
            <a:r>
              <a:rPr lang="en"/>
              <a:t>states</a:t>
            </a:r>
            <a:r>
              <a:rPr lang="en"/>
              <a:t> with high burdens for childcare, </a:t>
            </a:r>
            <a:r>
              <a:rPr lang="en"/>
              <a:t>families</a:t>
            </a:r>
            <a:r>
              <a:rPr lang="en"/>
              <a:t> must choose between work and care</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b="1" i="1" lang="en"/>
              <a:t>When we act with bold, bipartisan leadership, we can help thriving families drive a thriving economy</a:t>
            </a:r>
            <a:endParaRPr b="1" i="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a:t>
            </a:r>
            <a:endParaRPr/>
          </a:p>
        </p:txBody>
      </p:sp>
      <p:sp>
        <p:nvSpPr>
          <p:cNvPr id="141" name="Google Shape;141;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